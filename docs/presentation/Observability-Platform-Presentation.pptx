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286000"/>
            <a:ext cx="12191695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468880"/>
            <a:ext cx="10332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600" b="1">
                <a:solidFill>
                  <a:srgbClr val="F1F5F9"/>
                </a:solidFill>
              </a:rPr>
              <a:t>Plateforme d'Observabilité</a:t>
            </a:r>
          </a:p>
          <a:p>
            <a:r>
              <a:rPr sz="2000">
                <a:solidFill>
                  <a:srgbClr val="3B82F6"/>
                </a:solidFill>
              </a:rPr>
              <a:t>Reproductible · Sécurisée · GitOps / DevSecOps · 100% Open Source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852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94A3B8"/>
                </a:solidFill>
              </a:rPr>
              <a:t>William BATCHAYON — Loki/Mimir/Tempo · OpenTelemetry · Vault · FluxCD · Harbor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1F5F9"/>
                </a:solidFill>
              </a:rPr>
              <a:t>Contexte &amp; objectifs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>
                <a:solidFill>
                  <a:srgbClr val="F1F5F9"/>
                </a:solidFill>
              </a:rPr>
              <a:t>▸ Une plateforme d'observabilité unique : logs, métriques et traces corrélés.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F1F5F9"/>
                </a:solidFill>
              </a:rPr>
              <a:t>▸ 5 exigences directrices :</a:t>
            </a:r>
          </a:p>
          <a:p>
            <a:pPr lvl="1">
              <a:spcAft>
                <a:spcPts val="600"/>
              </a:spcAft>
            </a:pPr>
            <a:r>
              <a:rPr sz="1500">
                <a:solidFill>
                  <a:srgbClr val="94A3B8"/>
                </a:solidFill>
              </a:rPr>
              <a:t>• Scalable — montée en charge horizontale et verticale</a:t>
            </a:r>
          </a:p>
          <a:p>
            <a:pPr lvl="1">
              <a:spcAft>
                <a:spcPts val="600"/>
              </a:spcAft>
            </a:pPr>
            <a:r>
              <a:rPr sz="1500">
                <a:solidFill>
                  <a:srgbClr val="94A3B8"/>
                </a:solidFill>
              </a:rPr>
              <a:t>• Sécurisée — mTLS de bout en bout, secrets chiffrés, RBAC</a:t>
            </a:r>
          </a:p>
          <a:p>
            <a:pPr lvl="1">
              <a:spcAft>
                <a:spcPts val="600"/>
              </a:spcAft>
            </a:pPr>
            <a:r>
              <a:rPr sz="1500">
                <a:solidFill>
                  <a:srgbClr val="94A3B8"/>
                </a:solidFill>
              </a:rPr>
              <a:t>• Reproductible — déploiement identique Dev/Staging/Prod</a:t>
            </a:r>
          </a:p>
          <a:p>
            <a:pPr lvl="1">
              <a:spcAft>
                <a:spcPts val="600"/>
              </a:spcAft>
            </a:pPr>
            <a:r>
              <a:rPr sz="1500">
                <a:solidFill>
                  <a:srgbClr val="94A3B8"/>
                </a:solidFill>
              </a:rPr>
              <a:t>• Évolutive — architecture modulaire (GitOps)</a:t>
            </a:r>
          </a:p>
          <a:p>
            <a:pPr lvl="1">
              <a:spcAft>
                <a:spcPts val="600"/>
              </a:spcAft>
            </a:pPr>
            <a:r>
              <a:rPr sz="1500">
                <a:solidFill>
                  <a:srgbClr val="94A3B8"/>
                </a:solidFill>
              </a:rPr>
              <a:t>• 100% Open Source — aucune dépendance propriétaire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F1F5F9"/>
                </a:solidFill>
              </a:rPr>
              <a:t>▸ Principe clé : « l'utilisateur change les credentials d'un environnement, puis lance ».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1F5F9"/>
                </a:solidFill>
              </a:rPr>
              <a:t>Architecture globale</a:t>
            </a:r>
          </a:p>
        </p:txBody>
      </p:sp>
      <p:pic>
        <p:nvPicPr>
          <p:cNvPr id="4" name="Picture 3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327" y="1371600"/>
            <a:ext cx="10607040" cy="273293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3093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>
                <a:solidFill>
                  <a:srgbClr val="94A3B8"/>
                </a:solidFill>
              </a:rPr>
              <a:t>Collecte (VMs air-gap) → Edge → Ingress → OTel Gateway → Loki/Mimir/Tempo → MinIO · Grafana · Incident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1F5F9"/>
                </a:solidFill>
              </a:rPr>
              <a:t>Composants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>
                <a:solidFill>
                  <a:srgbClr val="F1F5F9"/>
                </a:solidFill>
              </a:rPr>
              <a:t>▸ Collecte : agents OpenTelemetry sur VMs (air-gap), packages internes.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F1F5F9"/>
                </a:solidFill>
              </a:rPr>
              <a:t>▸ Edge Collectors : un par datacenter (buffer, filtre, compression).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F1F5F9"/>
                </a:solidFill>
              </a:rPr>
              <a:t>▸ Ingress : HAProxy x2 (TLS 1.3, least-connections).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F1F5F9"/>
                </a:solidFill>
              </a:rPr>
              <a:t>▸ Ingestion : OTel Gateway x3 (filter, batch, enrich, sampling, files persistantes).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F1F5F9"/>
                </a:solidFill>
              </a:rPr>
              <a:t>▸ Stockage : Loki (logs), Mimir (métriques), Tempo (traces) → MinIO (S3 long terme).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F1F5F9"/>
                </a:solidFill>
              </a:rPr>
              <a:t>▸ Monitoring : Prometheus + Alertmanager + auto-healing.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F1F5F9"/>
                </a:solidFill>
              </a:rPr>
              <a:t>▸ Visualisation : Grafana (datasources + dashboards as-code).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F1F5F9"/>
                </a:solidFill>
              </a:rPr>
              <a:t>▸ Incident : OneUptime → GLPI (tickets) + Slack (astreinte).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1F5F9"/>
                </a:solidFill>
              </a:rPr>
              <a:t>Flux de données &amp; alerting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>
                <a:solidFill>
                  <a:srgbClr val="F1F5F9"/>
                </a:solidFill>
              </a:rPr>
              <a:t>▸ Agent → Edge → HAProxy → OTel Gateway (mTLS à chaque saut).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F1F5F9"/>
                </a:solidFill>
              </a:rPr>
              <a:t>▸ Gateway → logs:Loki · metrics:Mimir · traces:Tempo → MinIO (S3).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F1F5F9"/>
                </a:solidFill>
              </a:rPr>
              <a:t>▸ Grafana lit les 3 backends avec corrélation croisée.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F1F5F9"/>
                </a:solidFill>
              </a:rPr>
              <a:t>▸ Alertmanager (central) → OneUptime → GLPI + Slack (problèmes majeurs).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F1F5F9"/>
                </a:solidFill>
              </a:rPr>
              <a:t>▸ Failover : si Alertmanager tombe, OneUptime prend le relais puis repasse en relais.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1F5F9"/>
                </a:solidFill>
              </a:rPr>
              <a:t>Sécurité &amp; DevSecOps</a:t>
            </a:r>
          </a:p>
        </p:txBody>
      </p:sp>
      <p:pic>
        <p:nvPicPr>
          <p:cNvPr id="4" name="Picture 3" descr="secur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6462" y="1371600"/>
            <a:ext cx="3238771" cy="47548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3093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>
                <a:solidFill>
                  <a:srgbClr val="94A3B8"/>
                </a:solidFill>
              </a:rPr>
              <a:t>mTLS via Vault PKI + cert-manager · deny-by-default · Kyverno · supply chain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1F5F9"/>
                </a:solidFill>
              </a:rPr>
              <a:t>Sécurité — mesures clés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>
                <a:solidFill>
                  <a:srgbClr val="F1F5F9"/>
                </a:solidFill>
              </a:rPr>
              <a:t>▸ mTLS de bout en bout : PKI Vault (auto-unseal Transit) + cert-manager.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F1F5F9"/>
                </a:solidFill>
              </a:rPr>
              <a:t>▸ Secrets : SOPS+age (chiffrés dans Git) + Vault runtime.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F1F5F9"/>
                </a:solidFill>
              </a:rPr>
              <a:t>▸ Réseau : NetworkPolicies deny-by-default sur tous les namespaces.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F1F5F9"/>
                </a:solidFill>
              </a:rPr>
              <a:t>▸ Admission : Kyverno (non-root, ressources, images signées, anti :latest).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F1F5F9"/>
                </a:solidFill>
              </a:rPr>
              <a:t>▸ Supply chain : registre interne, scan Trivy, SBOM (syft), signature Cosign.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F1F5F9"/>
                </a:solidFill>
              </a:rPr>
              <a:t>▸ Revue de sécurité réalisée : tous les constats traités (cf. SECURITY-REVIEW).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1F5F9"/>
                </a:solidFill>
              </a:rPr>
              <a:t>Air-gap strict — aucune sortie Internet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>
                <a:solidFill>
                  <a:srgbClr val="F1F5F9"/>
                </a:solidFill>
              </a:rPr>
              <a:t>▸ Miroir containerd → Harbor sur chaque nœud (docker.io, quay.io, ghcr.io, registry.k8s.io).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F1F5F9"/>
                </a:solidFill>
              </a:rPr>
              <a:t>▸ Charts Helm en OCI depuis Harbor (plus aucun dépôt public).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F1F5F9"/>
                </a:solidFill>
              </a:rPr>
              <a:t>▸ Packages OTel des VMs tirés du dépôt interne signé (apt/yum/tar.gz).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F1F5F9"/>
                </a:solidFill>
              </a:rPr>
              <a:t>▸ VMs gérées par Ansible (installation offline, idempotente, multi-OS).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1F5F9"/>
                </a:solidFill>
              </a:rPr>
              <a:t>GitOps &amp; workflow Pull Request</a:t>
            </a:r>
          </a:p>
        </p:txBody>
      </p:sp>
      <p:pic>
        <p:nvPicPr>
          <p:cNvPr id="4" name="Picture 3" descr="gitops-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327" y="1371600"/>
            <a:ext cx="10607040" cy="369352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3093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>
                <a:solidFill>
                  <a:srgbClr val="94A3B8"/>
                </a:solidFill>
              </a:rPr>
              <a:t>main protégée · PR + CI bloquante · promotion dev → staging → prod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1F5F9"/>
                </a:solidFill>
              </a:rPr>
              <a:t>Automatisation (tout automatisé)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>
                <a:solidFill>
                  <a:srgbClr val="F1F5F9"/>
                </a:solidFill>
              </a:rPr>
              <a:t>▸ Renovate (self-hosted) : montées de version → PR + auto-merge des MAJ sûres.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F1F5F9"/>
                </a:solidFill>
              </a:rPr>
              <a:t>▸ Flux Image Automation : nouvelle image signée → PR automatique.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F1F5F9"/>
                </a:solidFill>
              </a:rPr>
              <a:t>▸ Release Please : versioning sémantique + CHANGELOG + artefacts signés.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F1F5F9"/>
                </a:solidFill>
              </a:rPr>
              <a:t>▸ CI/CD : lint, kubeconform, trivy/checkov/tfsec/gitleaks/kubescape, conftest, SBOM/cosign.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F1F5F9"/>
                </a:solidFill>
              </a:rPr>
              <a:t>▸ RACI documenté pour la gestion des montées de version.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1F5F9"/>
                </a:solidFill>
              </a:rPr>
              <a:t>Console de management (GUI)</a:t>
            </a:r>
          </a:p>
        </p:txBody>
      </p:sp>
      <p:pic>
        <p:nvPicPr>
          <p:cNvPr id="4" name="Picture 3" descr="gui-dashboard-f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4722" y="1371600"/>
            <a:ext cx="7422251" cy="47548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3093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>
                <a:solidFill>
                  <a:srgbClr val="94A3B8"/>
                </a:solidFill>
              </a:rPr>
              <a:t>Configurer · Identifiants · Lancer &amp; suivre — sans modifier le code source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1F5F9"/>
                </a:solidFill>
              </a:rPr>
              <a:t>Console — fonctionnalités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>
                <a:solidFill>
                  <a:srgbClr val="F1F5F9"/>
                </a:solidFill>
              </a:rPr>
              <a:t>▸ Configuration d'environnement validée → écrite via Pull Request.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F1F5F9"/>
                </a:solidFill>
              </a:rPr>
              <a:t>▸ Credentials chiffrés (GitHub Secrets / sealed box).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F1F5F9"/>
                </a:solidFill>
              </a:rPr>
              <a:t>▸ Déclenchement des pipelines (validate / bootstrap / deploy) via l'API GitHub.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F1F5F9"/>
                </a:solidFill>
              </a:rPr>
              <a:t>▸ Suivi des exécutions en temps réel + accès direct aux outils déployés.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F1F5F9"/>
                </a:solidFill>
              </a:rPr>
              <a:t>▸ Connexion multi-fournisseurs : GitHub OAuth, Google (Gmail), SSO (OIDC), jeton.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F1F5F9"/>
                </a:solidFill>
              </a:rPr>
              <a:t>▸ Contrôle d'accès, en-têtes de sécurité, responsive, bilingue FR/EN.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F1F5F9"/>
                </a:solidFill>
              </a:rPr>
              <a:t>▸ Déployée sur Vercel (dev) ; manifests K8s durcis pour la prod.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1F5F9"/>
                </a:solidFill>
              </a:rPr>
              <a:t>Console — accès aux outils &amp; multilingue</a:t>
            </a:r>
          </a:p>
        </p:txBody>
      </p:sp>
      <p:pic>
        <p:nvPicPr>
          <p:cNvPr id="4" name="Picture 3" descr="gui-too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4599" y="1371600"/>
            <a:ext cx="6762496" cy="47548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3093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>
                <a:solidFill>
                  <a:srgbClr val="94A3B8"/>
                </a:solidFill>
              </a:rPr>
              <a:t>Accès direct : Grafana, Prometheus, Alertmanager, OneUptime, GLPI, Slack, Harbor, Vault, MinIO, Renovate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1F5F9"/>
                </a:solidFill>
              </a:rPr>
              <a:t>Stack technologique (100% OSS)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>
                <a:solidFill>
                  <a:srgbClr val="F1F5F9"/>
                </a:solidFill>
              </a:rPr>
              <a:t>▸ Orchestration : Kubernetes (kubeadm), FluxCD, Helm, Terraform, Ansible.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F1F5F9"/>
                </a:solidFill>
              </a:rPr>
              <a:t>▸ Observabilité : OpenTelemetry, Loki, Mimir, Tempo, Grafana, Prometheus, Alertmanager.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F1F5F9"/>
                </a:solidFill>
              </a:rPr>
              <a:t>▸ Sécurité : HashiCorp Vault, cert-manager, Kyverno, SOPS, Trivy, Cosign, syft.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F1F5F9"/>
                </a:solidFill>
              </a:rPr>
              <a:t>▸ Stockage / registre : MinIO (S3), Harbor.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F1F5F9"/>
                </a:solidFill>
              </a:rPr>
              <a:t>▸ Incident : OneUptime, GLPI. Console : Next.js 14 + TypeScript + Tailwind.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1F5F9"/>
                </a:solidFill>
              </a:rPr>
              <a:t>Reproductibilité &amp; déploiement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>
                <a:solidFill>
                  <a:srgbClr val="F1F5F9"/>
                </a:solidFill>
              </a:rPr>
              <a:t>▸ Toute la variabilité dans environments/&lt;env&gt;/ (un fichier à remplir).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F1F5F9"/>
                </a:solidFill>
              </a:rPr>
              <a:t>▸ make bootstrap ENV=&lt;env&gt; : cluster → Harbor → Vault → Flux.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F1F5F9"/>
                </a:solidFill>
              </a:rPr>
              <a:t>▸ make deploy ENV=&lt;env&gt; : FluxCD réconcilie la plateforme.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F1F5F9"/>
                </a:solidFill>
              </a:rPr>
              <a:t>▸ ansible-playbook ... install-agent : agents sur les VMs.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F1F5F9"/>
                </a:solidFill>
              </a:rPr>
              <a:t>▸ Releases taguées (v0.1.x) avec bundle reproductible + SBOM.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1F5F9"/>
                </a:solidFill>
              </a:rPr>
              <a:t>Conclusion &amp; perspectives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>
                <a:solidFill>
                  <a:srgbClr val="F1F5F9"/>
                </a:solidFill>
              </a:rPr>
              <a:t>▸ Plateforme complète, reproductible, sécurisée et 100% open source.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F1F5F9"/>
                </a:solidFill>
              </a:rPr>
              <a:t>▸ CI/CD verte, 0 annotation, releases automatisées, console en production.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F1F5F9"/>
                </a:solidFill>
              </a:rPr>
              <a:t>▸ Perspectives :</a:t>
            </a:r>
          </a:p>
          <a:p>
            <a:pPr lvl="1">
              <a:spcAft>
                <a:spcPts val="600"/>
              </a:spcAft>
            </a:pPr>
            <a:r>
              <a:rPr sz="1500">
                <a:solidFill>
                  <a:srgbClr val="94A3B8"/>
                </a:solidFill>
              </a:rPr>
              <a:t>• Signature des images de conteneur → Kyverno verify-images en Enforce</a:t>
            </a:r>
          </a:p>
          <a:p>
            <a:pPr lvl="1">
              <a:spcAft>
                <a:spcPts val="600"/>
              </a:spcAft>
            </a:pPr>
            <a:r>
              <a:rPr sz="1500">
                <a:solidFill>
                  <a:srgbClr val="94A3B8"/>
                </a:solidFill>
              </a:rPr>
              <a:t>• Exposition interne de la console (ingress + SSO)</a:t>
            </a:r>
          </a:p>
          <a:p>
            <a:pPr lvl="1">
              <a:spcAft>
                <a:spcPts val="600"/>
              </a:spcAft>
            </a:pPr>
            <a:r>
              <a:rPr sz="1500">
                <a:solidFill>
                  <a:srgbClr val="94A3B8"/>
                </a:solidFill>
              </a:rPr>
              <a:t>• Activation Google/SSO en production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F1F5F9"/>
                </a:solidFill>
              </a:rPr>
              <a:t>▸ Merci — questions 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